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2B2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House</c:v>
                </c:pt>
                <c:pt idx="1">
                  <c:v>Other / Personal</c:v>
                </c:pt>
                <c:pt idx="2">
                  <c:v>Credit Card</c:v>
                </c:pt>
                <c:pt idx="3">
                  <c:v>Medical</c:v>
                </c:pt>
                <c:pt idx="4">
                  <c:v>Small Business</c:v>
                </c:pt>
                <c:pt idx="5">
                  <c:v>Renewable Energy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44</c:v>
                </c:pt>
                <c:pt idx="2">
                  <c:v>43</c:v>
                </c:pt>
                <c:pt idx="3">
                  <c:v>43</c:v>
                </c:pt>
                <c:pt idx="4">
                  <c:v>36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73-482F-AE0B-DC3A878E7C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($B)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&quot;$&quot;0.0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2B2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Grade B</c:v>
                </c:pt>
                <c:pt idx="1">
                  <c:v>Grade C</c:v>
                </c:pt>
                <c:pt idx="2">
                  <c:v>Grade A</c:v>
                </c:pt>
                <c:pt idx="3">
                  <c:v>Grade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2.95</c:v>
                </c:pt>
                <c:pt idx="1">
                  <c:v>2.89</c:v>
                </c:pt>
                <c:pt idx="2">
                  <c:v>1.92</c:v>
                </c:pt>
                <c:pt idx="3">
                  <c:v>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F1-40FE-BF10-9A24FEAB2E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13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0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81160" y="5486400"/>
            <a:ext cx="310896" cy="502920"/>
          </a:xfrm>
          <a:prstGeom prst="rect">
            <a:avLst/>
          </a:prstGeom>
          <a:solidFill>
            <a:srgbClr val="2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48088" y="5120640"/>
            <a:ext cx="310896" cy="868680"/>
          </a:xfrm>
          <a:prstGeom prst="rect">
            <a:avLst/>
          </a:prstGeom>
          <a:solidFill>
            <a:srgbClr val="2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15016" y="4754880"/>
            <a:ext cx="310896" cy="1234440"/>
          </a:xfrm>
          <a:prstGeom prst="rect">
            <a:avLst/>
          </a:prstGeom>
          <a:solidFill>
            <a:srgbClr val="2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81944" y="4389120"/>
            <a:ext cx="310896" cy="1600200"/>
          </a:xfrm>
          <a:prstGeom prst="rect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548872" y="4937760"/>
            <a:ext cx="310896" cy="1051560"/>
          </a:xfrm>
          <a:prstGeom prst="rect">
            <a:avLst/>
          </a:prstGeom>
          <a:solidFill>
            <a:srgbClr val="2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Empowering Community Lending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Credit Risk Analytics Framework for the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Credit Union Association (CCUA)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5B8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BIA-5450-0LA  |  Professor Raed Karim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Aakarshan Gupta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Darren Fernandes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Faisal Khan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5349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 Inayat Maknojia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Mansour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Tousif Ibrahim Patel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Better Credit Decisions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Capital Is Deployed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246120" cy="2331720"/>
          </a:xfrm>
          <a:prstGeom prst="roundRect">
            <a:avLst>
              <a:gd name="adj" fmla="val 1961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476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Credit Assessment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historical credit scores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approval thresholds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ability to capture interactions between borrower financial characteristics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30752" y="2820924"/>
            <a:ext cx="256032" cy="256032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1783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CONSEQUENCE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2130552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CF1DF"/>
          </a:solidFill>
          <a:ln w="12700">
            <a:solidFill>
              <a:srgbClr val="E8C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0520" y="22037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ERROR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441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Creditworthy applicant rejected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60520" y="2715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Lost lending and member-growth opportunity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3246120"/>
            <a:ext cx="3246120" cy="987552"/>
          </a:xfrm>
          <a:prstGeom prst="roundRect">
            <a:avLst>
              <a:gd name="adj" fmla="val 4630"/>
            </a:avLst>
          </a:prstGeom>
          <a:solidFill>
            <a:srgbClr val="FBEAE8"/>
          </a:solidFill>
          <a:ln w="12700">
            <a:solidFill>
              <a:srgbClr val="E3B3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60520" y="33192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ERROR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3557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applicant approved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60520" y="38313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Default and direct capital erosion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96912" y="2820924"/>
            <a:ext cx="256032" cy="256032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0" y="1783080"/>
            <a:ext cx="3246120" cy="2331720"/>
          </a:xfrm>
          <a:prstGeom prst="roundRect">
            <a:avLst>
              <a:gd name="adj" fmla="val 196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0" y="1947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286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Risk Intelligence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0" y="28346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borrower financial characteristics to identify risk before credit is extended.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11274552" cy="68580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 w="12700">
            <a:solidFill>
              <a:srgbClr val="C7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434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cooperative capital while supporting more consistent lending decisions.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Portfolio Visibility to Prescriptive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33472" cy="3840480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33472" cy="457200"/>
          </a:xfrm>
          <a:prstGeom prst="rect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1671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happening?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2679192"/>
            <a:ext cx="23591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historical default rate?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loan categories show the highest risk?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3419856"/>
            <a:ext cx="182880" cy="201168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0128" y="1600200"/>
            <a:ext cx="2633472" cy="3840480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0128" y="1600200"/>
            <a:ext cx="2633472" cy="457200"/>
          </a:xfrm>
          <a:prstGeom prst="rect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600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47288" y="21671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happening?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47288" y="2679192"/>
            <a:ext cx="23591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borrower characteristics distinguish higher-risk segments?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employment stability, DTI and revolving utilization relate to outcomes?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61888" y="3419856"/>
            <a:ext cx="182880" cy="201168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600200"/>
            <a:ext cx="2633472" cy="3840480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600200"/>
            <a:ext cx="2633472" cy="457200"/>
          </a:xfrm>
          <a:prstGeom prst="rect">
            <a:avLst/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63056" y="1600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0216" y="21671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likely to happen?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0216" y="2679192"/>
            <a:ext cx="23591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applicants are likely to default?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capital may be exposed?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14816" y="3419856"/>
            <a:ext cx="182880" cy="201168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15984" y="1600200"/>
            <a:ext cx="2633472" cy="3840480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15984" y="1600200"/>
            <a:ext cx="2633472" cy="4572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15984" y="1600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53144" y="21671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CCUA do?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53144" y="2679192"/>
            <a:ext cx="23591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applications require additional review?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compensatory terms or denial be considered?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capital-risk exposure influence decisions?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696712"/>
            <a:ext cx="11274552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569671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analytical questions guided the project across the four analytics levels.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Scope: From Historical Lending Data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Decision Support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32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personal and retail lending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72384" y="2907792"/>
            <a:ext cx="164592" cy="128016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044952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36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and portfolio risk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72384" y="3803904"/>
            <a:ext cx="164592" cy="128016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941064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32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3251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Default-risk classification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72384" y="4700016"/>
            <a:ext cx="164592" cy="128016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837176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928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2212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178308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148840"/>
            <a:ext cx="2688336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36792" y="231343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3679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36792" y="277063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Analytical Dataset &amp; SQLite Framework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43416" y="2148840"/>
            <a:ext cx="2688336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08008" y="231343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08008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08008" y="277063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Default-Risk Model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3749040"/>
            <a:ext cx="2688336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36792" y="391363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36792" y="437083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10-Sprint Power BI Dashboard Suite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043416" y="3749040"/>
            <a:ext cx="2688336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208008" y="391363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08008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08008" y="437083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Decision-Support Insights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72200" y="5394960"/>
            <a:ext cx="5559552" cy="45720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9360" y="539496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 •  Fraud detection  •  Corporate lending  •  Direct collections management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ENTITIES &amp;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 Million Loan Records Formed the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Foundation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31363" y="1087895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197623"/>
            <a:ext cx="343814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2,260,668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18831"/>
            <a:ext cx="34747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Loan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0422" y="1087895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79976" y="1197623"/>
            <a:ext cx="343814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61688" y="1718831"/>
            <a:ext cx="34747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Variables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83296" y="1087895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93024" y="1197623"/>
            <a:ext cx="343814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Anonymized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74736" y="1718831"/>
            <a:ext cx="34747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41344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41344"/>
            <a:ext cx="2514600" cy="384048"/>
          </a:xfrm>
          <a:prstGeom prst="roundRect">
            <a:avLst>
              <a:gd name="adj" fmla="val 11905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533368"/>
            <a:ext cx="2514600" cy="192024"/>
          </a:xfrm>
          <a:prstGeom prst="rect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3413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" y="2835120"/>
            <a:ext cx="21854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08376" y="3223740"/>
            <a:ext cx="310896" cy="201168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55848" y="2341344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55848" y="2341344"/>
            <a:ext cx="2514600" cy="384048"/>
          </a:xfrm>
          <a:prstGeom prst="roundRect">
            <a:avLst>
              <a:gd name="adj" fmla="val 11905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55848" y="2533368"/>
            <a:ext cx="2514600" cy="192024"/>
          </a:xfrm>
          <a:prstGeom prst="rect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47288" y="23413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ACCOUNT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20440" y="2835120"/>
            <a:ext cx="21854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07024" y="3223740"/>
            <a:ext cx="310896" cy="201168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54496" y="2341344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54496" y="2341344"/>
            <a:ext cx="2514600" cy="384048"/>
          </a:xfrm>
          <a:prstGeom prst="roundRect">
            <a:avLst>
              <a:gd name="adj" fmla="val 11905"/>
            </a:avLst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54496" y="2533368"/>
            <a:ext cx="2514600" cy="192024"/>
          </a:xfrm>
          <a:prstGeom prst="rect">
            <a:avLst/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45936" y="23413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BEHAVIOUR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19088" y="2835120"/>
            <a:ext cx="21854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Utilization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Delinquencies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Inquiries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05672" y="3223740"/>
            <a:ext cx="310896" cy="201168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53144" y="2341344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53144" y="2341344"/>
            <a:ext cx="251460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53144" y="2533368"/>
            <a:ext cx="2514600" cy="19202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244584" y="23413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OUTCOME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317736" y="2835120"/>
            <a:ext cx="21854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Paid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Off / Default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44" name="Image3">
            <a:extLst>
              <a:ext uri="{FF2B5EF4-FFF2-40B4-BE49-F238E27FC236}">
                <a16:creationId xmlns:a16="http://schemas.microsoft.com/office/drawing/2014/main" id="{020C9604-D336-E010-65BE-B58FFE17F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34765" y="4383865"/>
            <a:ext cx="4455414" cy="2298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Lending Data into a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Model-Ready Risk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0848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84832" cy="384048"/>
          </a:xfrm>
          <a:prstGeom prst="roundRect">
            <a:avLst>
              <a:gd name="adj" fmla="val 11905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2084832" cy="192024"/>
          </a:xfrm>
          <a:prstGeom prst="rect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276856"/>
            <a:ext cx="17556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2,260,668 records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variables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6604" y="2615184"/>
            <a:ext cx="118872" cy="164592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70048" y="1783080"/>
            <a:ext cx="20848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70048" y="1783080"/>
            <a:ext cx="2084832" cy="384048"/>
          </a:xfrm>
          <a:prstGeom prst="roundRect">
            <a:avLst>
              <a:gd name="adj" fmla="val 11905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70048" y="1975104"/>
            <a:ext cx="2084832" cy="192024"/>
          </a:xfrm>
          <a:prstGeom prst="rect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61488" y="1783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34640" y="2276856"/>
            <a:ext cx="17556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9452" y="2615184"/>
            <a:ext cx="118872" cy="164592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82896" y="1783080"/>
            <a:ext cx="20848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82896" y="1783080"/>
            <a:ext cx="2084832" cy="384048"/>
          </a:xfrm>
          <a:prstGeom prst="roundRect">
            <a:avLst>
              <a:gd name="adj" fmla="val 11905"/>
            </a:avLst>
          </a:prstGeom>
          <a:solidFill>
            <a:srgbClr val="3A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82896" y="1975104"/>
            <a:ext cx="2084832" cy="192024"/>
          </a:xfrm>
          <a:prstGeom prst="rect">
            <a:avLst/>
          </a:prstGeom>
          <a:solidFill>
            <a:srgbClr val="3A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74336" y="1783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TARGET LEAKAGE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47488" y="2276856"/>
            <a:ext cx="17556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post-origination variables unavailable at application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72300" y="2615184"/>
            <a:ext cx="118872" cy="164592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95744" y="1783080"/>
            <a:ext cx="20848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95744" y="1783080"/>
            <a:ext cx="2084832" cy="384048"/>
          </a:xfrm>
          <a:prstGeom prst="roundRect">
            <a:avLst>
              <a:gd name="adj" fmla="val 11905"/>
            </a:avLst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95744" y="1975104"/>
            <a:ext cx="2084832" cy="192024"/>
          </a:xfrm>
          <a:prstGeom prst="rect">
            <a:avLst/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87184" y="1783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BINARY TARGET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60336" y="2276856"/>
            <a:ext cx="17556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Paid = 0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Off / Default =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85148" y="2615184"/>
            <a:ext cx="118872" cy="164592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308592" y="1783080"/>
            <a:ext cx="20848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308592" y="1783080"/>
            <a:ext cx="2084832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308592" y="1975104"/>
            <a:ext cx="2084832" cy="192024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400032" y="1783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DATA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73184" y="2276856"/>
            <a:ext cx="17556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1,303,638 completed loans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904488"/>
            <a:ext cx="27249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" y="4014216"/>
            <a:ext cx="250545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1,042,910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548640" y="4480560"/>
            <a:ext cx="25420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10128" y="3904488"/>
            <a:ext cx="27249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19856" y="4014216"/>
            <a:ext cx="250545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260,728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3401568" y="4480560"/>
            <a:ext cx="25420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Records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63056" y="3904488"/>
            <a:ext cx="27249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72784" y="4014216"/>
            <a:ext cx="250545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6254496" y="4480560"/>
            <a:ext cx="25420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15984" y="3904488"/>
            <a:ext cx="27249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25712" y="4014216"/>
            <a:ext cx="250545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: 1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107424" y="4480560"/>
            <a:ext cx="25420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Paid-to-Default Class Imbalance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unresolved loans were excluded from model training because their final repayment outcomes were not yet known.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5431536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C7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800" y="543153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model-training population differs from the broader portfolio population used for Power BI analysis. The overall historical portfolio default rate is </a:t>
            </a: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40.68%.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Predictive Credit Risk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6126480" cy="566928"/>
          </a:xfrm>
          <a:prstGeom prst="roundRect">
            <a:avLst>
              <a:gd name="adj" fmla="val 8065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9692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INGESTION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06040" y="9692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Lending Dataset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6126480" cy="566928"/>
          </a:xfrm>
          <a:prstGeom prst="roundRect">
            <a:avLst>
              <a:gd name="adj" fmla="val 8065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06040" y="1627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/ NumPy • Cleaning &amp; Feature Engineering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6126480" cy="566928"/>
          </a:xfrm>
          <a:prstGeom prst="roundRect">
            <a:avLst>
              <a:gd name="adj" fmla="val 8065"/>
            </a:avLst>
          </a:prstGeom>
          <a:solidFill>
            <a:srgbClr val="3A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286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PREDICTIVE ANALYTICS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2860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• Binary Classification • Default Probability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6126480" cy="566928"/>
          </a:xfrm>
          <a:prstGeom prst="roundRect">
            <a:avLst>
              <a:gd name="adj" fmla="val 8065"/>
            </a:avLst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9443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STORAGE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06040" y="29443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• Cleaned Data • Predictions • Risk Metadata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6126480" cy="566928"/>
          </a:xfrm>
          <a:prstGeom prst="roundRect">
            <a:avLst>
              <a:gd name="adj" fmla="val 806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60273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BUSINESS INTELLIGENCE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06040" y="360273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Portfolio Monitoring • Risk Segmentation • Executive Decision Support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903720" y="96926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316736"/>
            <a:ext cx="4828032" cy="621792"/>
          </a:xfrm>
          <a:prstGeom prst="roundRect">
            <a:avLst>
              <a:gd name="adj" fmla="val 7353"/>
            </a:avLst>
          </a:prstGeom>
          <a:solidFill>
            <a:srgbClr val="E9F5EE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3533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1591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0.00–&lt;0.35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1316736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automated approval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903720" y="2011680"/>
            <a:ext cx="4828032" cy="621792"/>
          </a:xfrm>
          <a:prstGeom prst="roundRect">
            <a:avLst>
              <a:gd name="adj" fmla="val 7353"/>
            </a:avLst>
          </a:prstGeom>
          <a:solidFill>
            <a:srgbClr val="FCF1DF"/>
          </a:solidFill>
          <a:ln w="12700">
            <a:solidFill>
              <a:srgbClr val="B974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40880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0.35–&lt;0.60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0" y="2011680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approval / compensatory terms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903720" y="2706624"/>
            <a:ext cx="4828032" cy="621792"/>
          </a:xfrm>
          <a:prstGeom prst="roundRect">
            <a:avLst>
              <a:gd name="adj" fmla="val 7353"/>
            </a:avLst>
          </a:prstGeom>
          <a:solidFill>
            <a:srgbClr val="FBEBDD"/>
          </a:solidFill>
          <a:ln w="12700">
            <a:solidFill>
              <a:srgbClr val="C46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27432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6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29809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0.60–0.70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270662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Senior-underwriter review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903720" y="3401568"/>
            <a:ext cx="4828032" cy="621792"/>
          </a:xfrm>
          <a:prstGeom prst="roundRect">
            <a:avLst>
              <a:gd name="adj" fmla="val 7353"/>
            </a:avLst>
          </a:prstGeom>
          <a:solidFill>
            <a:srgbClr val="FBEAE8"/>
          </a:solidFill>
          <a:ln w="12700">
            <a:solidFill>
              <a:srgbClr val="B5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0" y="3438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6758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0.70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0" y="340156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denial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3" name="Image7">
            <a:extLst>
              <a:ext uri="{FF2B5EF4-FFF2-40B4-BE49-F238E27FC236}">
                <a16:creationId xmlns:a16="http://schemas.microsoft.com/office/drawing/2014/main" id="{8C736253-325F-702C-2718-CEA00FFC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66744" y="4251960"/>
            <a:ext cx="4828032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WITH EXISTING IT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493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Enhance, Not To Replace the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Environment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9594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ENVIRONMENT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74920" y="119594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INTELLIGENCE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82488"/>
            <a:ext cx="2377921" cy="415636"/>
          </a:xfrm>
          <a:prstGeom prst="roundRect">
            <a:avLst>
              <a:gd name="adj" fmla="val 10000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8248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Lending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3392" y="202721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31128"/>
            <a:ext cx="2377921" cy="415636"/>
          </a:xfrm>
          <a:prstGeom prst="roundRect">
            <a:avLst>
              <a:gd name="adj" fmla="val 10000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3112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257585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679768"/>
            <a:ext cx="2377921" cy="415636"/>
          </a:xfrm>
          <a:prstGeom prst="roundRect">
            <a:avLst>
              <a:gd name="adj" fmla="val 10000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67976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93392" y="312449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28408"/>
            <a:ext cx="2377921" cy="415636"/>
          </a:xfrm>
          <a:prstGeom prst="roundRect">
            <a:avLst>
              <a:gd name="adj" fmla="val 10000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22840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93392" y="367313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777048"/>
            <a:ext cx="2377921" cy="415636"/>
          </a:xfrm>
          <a:prstGeom prst="roundRect">
            <a:avLst>
              <a:gd name="adj" fmla="val 10000"/>
            </a:avLst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77704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Officers / Decision Makers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50891" y="1582488"/>
            <a:ext cx="2596415" cy="415636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88051" y="158248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7083" y="202721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50891" y="2131128"/>
            <a:ext cx="2596415" cy="415636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88051" y="213112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87083" y="257585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50891" y="2679768"/>
            <a:ext cx="2596415" cy="415636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88051" y="267976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&amp; Metadata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87083" y="312449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50891" y="3228408"/>
            <a:ext cx="2596415" cy="415636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88051" y="322840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Power BI Analytics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87083" y="3673139"/>
            <a:ext cx="128016" cy="74815"/>
          </a:xfrm>
          <a:prstGeom prst="down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150891" y="3777048"/>
            <a:ext cx="2596415" cy="415636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88051" y="3777048"/>
            <a:ext cx="292608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Underwriting Support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89985" y="2205352"/>
            <a:ext cx="1197864" cy="249382"/>
          </a:xfrm>
          <a:prstGeom prst="rightArrow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35121" y="2602285"/>
            <a:ext cx="1307592" cy="872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i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integration, no major infrastructure replacement required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530352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4360" y="55778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analytical stack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3310128" y="5212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47288" y="530352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447288" y="55778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163056" y="5212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00216" y="530352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00216" y="55778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can be upgraded independently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9015984" y="5212080"/>
            <a:ext cx="2724912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53144" y="530352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153144" y="55778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enterprise database and Power BI Service migration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55" name="Image8">
            <a:extLst>
              <a:ext uri="{FF2B5EF4-FFF2-40B4-BE49-F238E27FC236}">
                <a16:creationId xmlns:a16="http://schemas.microsoft.com/office/drawing/2014/main" id="{8A5627B0-776B-0255-AE16-5273BF5D2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034450" y="1189918"/>
            <a:ext cx="4706445" cy="38628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Agile Sprints Moved the Solution from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Risk to Executive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UNDERSTAND PORTFOLIO RISK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475488" cy="475488"/>
          </a:xfrm>
          <a:prstGeom prst="ellipse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71907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Baseline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1719072"/>
            <a:ext cx="475488" cy="475488"/>
          </a:xfrm>
          <a:prstGeom prst="ellipse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02736" y="171907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Stability &amp; Employment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719072"/>
            <a:ext cx="475488" cy="475488"/>
          </a:xfrm>
          <a:prstGeom prst="ellipse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63056" y="171907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Term, Pricing &amp; Payment Burden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5915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DIAGNOSE CREDIT STRESS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475488" cy="475488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2416" y="2596896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&amp; Credit Stress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2596896"/>
            <a:ext cx="475488" cy="475488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0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02736" y="2596896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&amp; Borrower Segmentation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236976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D4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QUANTIFY &amp; PREDICT RISK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475488" cy="475488"/>
          </a:xfrm>
          <a:prstGeom prst="ellipse">
            <a:avLst/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42416" y="347472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at Risk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3474720"/>
            <a:ext cx="475488" cy="475488"/>
          </a:xfrm>
          <a:prstGeom prst="ellipse">
            <a:avLst/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1752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02736" y="347472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3474720"/>
            <a:ext cx="475488" cy="475488"/>
          </a:xfrm>
          <a:prstGeom prst="ellipse">
            <a:avLst/>
          </a:prstGeom>
          <a:solidFill>
            <a:srgbClr val="1D4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63056" y="347472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Risk Tiers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TURN INSIGHT INTO ACTION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352544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42416" y="4352544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Rules &amp; Underwriting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17520" y="4352544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0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02736" y="4352544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Reserve &amp; Portfolio Optimization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084064"/>
            <a:ext cx="11274552" cy="420624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5084064"/>
            <a:ext cx="2254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65806" y="508406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12110" y="5084064"/>
            <a:ext cx="2254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 &amp; Data Prep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20717" y="508406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67021" y="5084064"/>
            <a:ext cx="2254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Execution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75627" y="508406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1931" y="5084064"/>
            <a:ext cx="2254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&amp; Demo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330538" y="508406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476842" y="5084064"/>
            <a:ext cx="22549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 &amp; Docs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7200" y="55869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answered a defined analytical question and produced a corresponding Power BI analytical view.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CCUA — Predictive Credit Risk Analytics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PORTFOLIO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Analysis Revealed Significant and Uneven Credit-Risk Exposure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7249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801368"/>
            <a:ext cx="25054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$33.95B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2295144"/>
            <a:ext cx="254203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 Capital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0128" y="1691640"/>
            <a:ext cx="27249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9856" y="1801368"/>
            <a:ext cx="25054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2.26M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401568" y="2295144"/>
            <a:ext cx="254203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724912" cy="1005840"/>
          </a:xfrm>
          <a:prstGeom prst="roundRect">
            <a:avLst>
              <a:gd name="adj" fmla="val 54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72784" y="1801368"/>
            <a:ext cx="25054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40.68%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54496" y="2295144"/>
            <a:ext cx="254203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Historical Default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15984" y="1691640"/>
            <a:ext cx="27249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25712" y="1801368"/>
            <a:ext cx="25054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$10.05B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107424" y="2295144"/>
            <a:ext cx="254203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Principal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LOAN PURPOSE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3264408"/>
          <a:ext cx="60350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58338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 </a:t>
            </a: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 was not evenly distributed across loan purposes, supporting more targeted underwriting and portfolio monitoring.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portfolio figures are explicitly reported in the submitted report.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7" name="drawing">
            <a:extLst>
              <a:ext uri="{FF2B5EF4-FFF2-40B4-BE49-F238E27FC236}">
                <a16:creationId xmlns:a16="http://schemas.microsoft.com/office/drawing/2014/main" id="{2F018D21-5469-076E-8E93-7AE373DA4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5919" y="2843784"/>
            <a:ext cx="4664978" cy="28701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&amp; CREDIT-STRESS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 Stability and Credit Stress Added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Risk Signals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2489"/>
            <a:ext cx="363931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22489"/>
            <a:ext cx="3639312" cy="384048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2489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25409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5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46.61%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256929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observed default rate for unverified employment tenure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69577"/>
            <a:ext cx="3090672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942729"/>
            <a:ext cx="3273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or unverified employment history represented elevated borrower risk.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022489"/>
            <a:ext cx="363931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79392" y="1022489"/>
            <a:ext cx="3639312" cy="384048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79392" y="1022489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PROFILE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79392" y="1497977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49.16%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279392" y="2010041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9048" y="1497977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39.59%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9048" y="2010041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1525409"/>
            <a:ext cx="0" cy="59436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53712" y="2394089"/>
            <a:ext cx="3090672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62272" y="2485529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holders generally demonstrated lower default rates than renters and non-standard housing categories.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01584" y="1022489"/>
            <a:ext cx="363931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01584" y="1022489"/>
            <a:ext cx="3639312" cy="384048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01584" y="1022489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STRESS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4464" y="1497977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18.82%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701784" y="1497977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DTI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8284464" y="1882025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~$16.66K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01784" y="1882025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Revolving Balance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284464" y="2266073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~2.02M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01784" y="2266073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with DTI ≥ 30%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375904" y="2668409"/>
            <a:ext cx="3090672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84464" y="2741561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and revolving-credit behaviour provided additional borrower-risk signals.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697335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signal:  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revolving utilization for Status Code 2, versus ~48% for Status Code 1.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933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 </a:t>
            </a: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was better understood by combining borrower stability, leverage, and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behaviour rather than relying on one characteristic alone.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borrower and credit-stress values appear in the final report.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1" name="drawing">
            <a:extLst>
              <a:ext uri="{FF2B5EF4-FFF2-40B4-BE49-F238E27FC236}">
                <a16:creationId xmlns:a16="http://schemas.microsoft.com/office/drawing/2014/main" id="{C1BFD148-A645-51C8-EA2D-456BA09CB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4086" y="3617963"/>
            <a:ext cx="4970234" cy="2923457"/>
          </a:xfrm>
          <a:prstGeom prst="rect">
            <a:avLst/>
          </a:prstGeom>
        </p:spPr>
      </p:pic>
      <p:pic>
        <p:nvPicPr>
          <p:cNvPr id="42" name="Image1">
            <a:extLst>
              <a:ext uri="{FF2B5EF4-FFF2-40B4-BE49-F238E27FC236}">
                <a16:creationId xmlns:a16="http://schemas.microsoft.com/office/drawing/2014/main" id="{C8121EA4-1D7F-7AC9-80E9-2FA04EE10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57199" y="4655828"/>
            <a:ext cx="3674653" cy="12578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&amp; CAPITAL EXPOSURE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Risk Intelligence Connected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 Risk to Capital Exposure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6688"/>
            <a:ext cx="4206240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6641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$4.79B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861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associated with high-risk classifications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28032" y="1056688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1221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~1.08M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28032" y="1833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Accounts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82128" y="1056688"/>
            <a:ext cx="384962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82128" y="1221280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$10.05B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82128" y="1833928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Outstanding Principal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6579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EXPOSURE BY LOAN GRADE</a:t>
            </a:r>
            <a:endParaRPr lang="en-US" sz="12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1994648891"/>
              </p:ext>
            </p:extLst>
          </p:nvPr>
        </p:nvGraphicFramePr>
        <p:xfrm>
          <a:off x="365760" y="2624318"/>
          <a:ext cx="60350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7277436" y="228932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RISK-TO-ACTION FRAMEWORK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77436" y="2539202"/>
            <a:ext cx="1969891" cy="589252"/>
          </a:xfrm>
          <a:prstGeom prst="roundRect">
            <a:avLst>
              <a:gd name="adj" fmla="val 6316"/>
            </a:avLst>
          </a:prstGeom>
          <a:solidFill>
            <a:srgbClr val="E9F5EE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14596" y="2630642"/>
            <a:ext cx="1741718" cy="1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14596" y="2923250"/>
            <a:ext cx="1741718" cy="29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Approval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764604" y="2539202"/>
            <a:ext cx="1969891" cy="589252"/>
          </a:xfrm>
          <a:prstGeom prst="roundRect">
            <a:avLst>
              <a:gd name="adj" fmla="val 6316"/>
            </a:avLst>
          </a:prstGeom>
          <a:solidFill>
            <a:srgbClr val="FCF1DF"/>
          </a:solidFill>
          <a:ln w="12700">
            <a:solidFill>
              <a:srgbClr val="B974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901764" y="2630642"/>
            <a:ext cx="1741718" cy="1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901764" y="2795062"/>
            <a:ext cx="1741718" cy="29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Approval / Compensatory Terms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77436" y="3253290"/>
            <a:ext cx="1969891" cy="589252"/>
          </a:xfrm>
          <a:prstGeom prst="roundRect">
            <a:avLst>
              <a:gd name="adj" fmla="val 6316"/>
            </a:avLst>
          </a:prstGeom>
          <a:solidFill>
            <a:srgbClr val="FBEBDD"/>
          </a:solidFill>
          <a:ln w="12700">
            <a:solidFill>
              <a:srgbClr val="C46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414596" y="3344730"/>
            <a:ext cx="1741718" cy="1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46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414596" y="3637338"/>
            <a:ext cx="1741718" cy="29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Underwriter Review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764604" y="3253290"/>
            <a:ext cx="1969891" cy="589252"/>
          </a:xfrm>
          <a:prstGeom prst="roundRect">
            <a:avLst>
              <a:gd name="adj" fmla="val 6316"/>
            </a:avLst>
          </a:prstGeom>
          <a:solidFill>
            <a:srgbClr val="FBEAE8"/>
          </a:solidFill>
          <a:ln w="12700">
            <a:solidFill>
              <a:srgbClr val="B5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901764" y="3344730"/>
            <a:ext cx="1741718" cy="1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901764" y="3637338"/>
            <a:ext cx="1741718" cy="29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Denial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61232" y="4832028"/>
            <a:ext cx="5313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 </a:t>
            </a: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connected borrower-risk classifications to financial exposure</a:t>
            </a:r>
          </a:p>
          <a:p>
            <a:pPr marL="0" indent="0">
              <a:buNone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actionable underwriting decisions.</a:t>
            </a:r>
            <a:endParaRPr lang="en-US" sz="1030" dirty="0"/>
          </a:p>
        </p:txBody>
      </p:sp>
      <p:sp>
        <p:nvSpPr>
          <p:cNvPr id="34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report documents ~1.077M accounts and $4.79B in high-risk exposure.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36" name="drawing">
            <a:extLst>
              <a:ext uri="{FF2B5EF4-FFF2-40B4-BE49-F238E27FC236}">
                <a16:creationId xmlns:a16="http://schemas.microsoft.com/office/drawing/2014/main" id="{1D510B6E-5C68-2643-581D-FCFF4E6FD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8510" y="4035391"/>
            <a:ext cx="4479588" cy="27067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cs typeface="Calibri" pitchFamily="34" charset="-120"/>
              </a:rPr>
              <a:t>End-to-End Testing Confirmed Prototype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developed solution was validated across data, modelling, reporting, and security layers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997964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9979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562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TS_01 — Database Connection &amp; Staging Stability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2185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  •   Test Cases: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57800" y="1997964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E9F5EE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19979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884932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884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TS_02 — Model Inference &amp; Classification Logic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3072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  •   Test Cases: 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2884932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E9F5EE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8849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771900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7719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6301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TS_03 — Power BI Visual Integration &amp; Data Refresh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3959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Medium   •   Test Cases: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37719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E9F5EE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57800" y="37719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43984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4658868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6588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45171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TS_04 — Local OS Security &amp; Access Controls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156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Medium   •   Test Cases: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465886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E9F5EE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57800" y="46588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199" y="5603443"/>
            <a:ext cx="61572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prototype operated successfully across the complete analytical pipeline 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20840" y="178308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DEMONSTRATION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720840" y="457200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E5C8A"/>
                </a:solidFill>
                <a:latin typeface="Calibri" pitchFamily="34" charset="0"/>
                <a:cs typeface="Calibri" pitchFamily="34" charset="-120"/>
              </a:rPr>
              <a:t>Validation Areas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720840" y="4864608"/>
            <a:ext cx="1184148" cy="621792"/>
          </a:xfrm>
          <a:prstGeom prst="roundRect">
            <a:avLst>
              <a:gd name="adj" fmla="val 7353"/>
            </a:avLst>
          </a:prstGeom>
          <a:solidFill>
            <a:srgbClr val="EAF1F8"/>
          </a:solidFill>
          <a:ln w="12700">
            <a:solidFill>
              <a:srgbClr val="C7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75704" y="4864608"/>
            <a:ext cx="1074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904988" y="4864608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996428" y="4864608"/>
            <a:ext cx="1184148" cy="621792"/>
          </a:xfrm>
          <a:prstGeom prst="roundRect">
            <a:avLst>
              <a:gd name="adj" fmla="val 7353"/>
            </a:avLst>
          </a:prstGeom>
          <a:solidFill>
            <a:srgbClr val="EAF1F8"/>
          </a:solidFill>
          <a:ln w="12700">
            <a:solidFill>
              <a:srgbClr val="C7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51292" y="4864608"/>
            <a:ext cx="1074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80576" y="4864608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272016" y="4864608"/>
            <a:ext cx="1184148" cy="621792"/>
          </a:xfrm>
          <a:prstGeom prst="roundRect">
            <a:avLst>
              <a:gd name="adj" fmla="val 7353"/>
            </a:avLst>
          </a:prstGeom>
          <a:solidFill>
            <a:srgbClr val="EAF1F8"/>
          </a:solidFill>
          <a:ln w="12700">
            <a:solidFill>
              <a:srgbClr val="C7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326880" y="4864608"/>
            <a:ext cx="1074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456164" y="4864608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547604" y="4864608"/>
            <a:ext cx="1184148" cy="621792"/>
          </a:xfrm>
          <a:prstGeom prst="roundRect">
            <a:avLst>
              <a:gd name="adj" fmla="val 7353"/>
            </a:avLst>
          </a:prstGeom>
          <a:solidFill>
            <a:srgbClr val="EAF1F8"/>
          </a:solidFill>
          <a:ln w="12700">
            <a:solidFill>
              <a:srgbClr val="C7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602468" y="4864608"/>
            <a:ext cx="1074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+ 4 + 3 + 2 = 12 test cases, with all four scenarios marked Pass.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1EEB5309-689C-C8EF-81B6-BA8AD63209A1}"/>
              </a:ext>
            </a:extLst>
          </p:cNvPr>
          <p:cNvSpPr/>
          <p:nvPr/>
        </p:nvSpPr>
        <p:spPr>
          <a:xfrm>
            <a:off x="6775704" y="1783080"/>
            <a:ext cx="5248656" cy="2551176"/>
          </a:xfrm>
          <a:prstGeom prst="roundRect">
            <a:avLst>
              <a:gd name="adj" fmla="val 5882"/>
            </a:avLst>
          </a:prstGeom>
          <a:solidFill>
            <a:srgbClr val="F5F6F8"/>
          </a:solidFill>
          <a:ln w="12700">
            <a:solidFill>
              <a:srgbClr val="D7DCE3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C16FF172-4314-4BAD-A3AE-189217E46A8D}"/>
              </a:ext>
            </a:extLst>
          </p:cNvPr>
          <p:cNvSpPr/>
          <p:nvPr/>
        </p:nvSpPr>
        <p:spPr>
          <a:xfrm>
            <a:off x="8354860" y="2147198"/>
            <a:ext cx="2443858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 Test Cases</a:t>
            </a:r>
            <a:endParaRPr lang="en-US" sz="2200" dirty="0"/>
          </a:p>
        </p:txBody>
      </p:sp>
      <p:sp>
        <p:nvSpPr>
          <p:cNvPr id="70" name="Shape 7">
            <a:extLst>
              <a:ext uri="{FF2B5EF4-FFF2-40B4-BE49-F238E27FC236}">
                <a16:creationId xmlns:a16="http://schemas.microsoft.com/office/drawing/2014/main" id="{53A763BF-3551-104B-4363-13739F86850A}"/>
              </a:ext>
            </a:extLst>
          </p:cNvPr>
          <p:cNvSpPr/>
          <p:nvPr/>
        </p:nvSpPr>
        <p:spPr>
          <a:xfrm>
            <a:off x="8431466" y="2624670"/>
            <a:ext cx="2171002" cy="1368139"/>
          </a:xfrm>
          <a:prstGeom prst="roundRect">
            <a:avLst>
              <a:gd name="adj" fmla="val 50000"/>
            </a:avLst>
          </a:prstGeom>
          <a:solidFill>
            <a:srgbClr val="E9F5EE"/>
          </a:solidFill>
          <a:ln w="12700">
            <a:solidFill>
              <a:srgbClr val="2E7D4F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20FC5401-4161-31E5-5E4C-B4010FD53E30}"/>
              </a:ext>
            </a:extLst>
          </p:cNvPr>
          <p:cNvSpPr/>
          <p:nvPr/>
        </p:nvSpPr>
        <p:spPr>
          <a:xfrm>
            <a:off x="8431466" y="2624670"/>
            <a:ext cx="2171002" cy="136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SOLUTION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Path from Prototype to Production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204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20440" cy="621792"/>
          </a:xfrm>
          <a:prstGeom prst="rect">
            <a:avLst/>
          </a:prstGeom>
          <a:solidFill>
            <a:srgbClr val="5B84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— VALIDATE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Threshold Tuning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0.35 / 0.60 / 0.70 thresholds using real approval and repayment outcomes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ensemble methods such as Random Forest and Gradient Boosting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cross-validation and hyperparameter testing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014216" y="3058668"/>
            <a:ext cx="237744" cy="237744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88536" y="1554480"/>
            <a:ext cx="35204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88536" y="1554480"/>
            <a:ext cx="3520440" cy="621792"/>
          </a:xfrm>
          <a:prstGeom prst="rect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53128" y="162763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 EXPAND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53128" y="1920240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71416" y="2304288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regional unemployment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interest-rate trends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formal data-sharing agreements with member credit unions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repeat-borrower and longitudinal risk analysis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845552" y="3058668"/>
            <a:ext cx="237744" cy="237744"/>
          </a:xfrm>
          <a:prstGeom prst="rightArrow">
            <a:avLst/>
          </a:prstGeom>
          <a:solidFill>
            <a:srgbClr val="9A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19872" y="1554480"/>
            <a:ext cx="35204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19872" y="1554480"/>
            <a:ext cx="3520440" cy="621792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84464" y="162763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— INDUSTRIALIZE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84464" y="1920240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Governance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02752" y="2304288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SQLite toward enterprise database infrastructure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dashboards through Power BI Service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role-based access control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model-performance monitoring</a:t>
            </a:r>
            <a:endParaRPr lang="en-US" sz="103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incremental ETL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11274552" cy="50292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5029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→  EXPAND  →  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560527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demonstrates feasibility; production deployment should proceed through controlled validation rather than immediate full-scale rollout.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optimization items are documented in the submitted final report.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0916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Cooperative Capital Through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Risk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10294B"/>
          </a:solidFill>
          <a:ln w="12700">
            <a:solidFill>
              <a:srgbClr val="2440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305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RISK EARLIER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53288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static historical scoring toward predictive borrower-risk intelligence.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1688" y="19659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10294B"/>
          </a:solidFill>
          <a:ln w="12700">
            <a:solidFill>
              <a:srgbClr val="2440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44568" y="21305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EXPOSURE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44568" y="253288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borrower risk to the capital potentially exposed.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74736" y="19659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10294B"/>
          </a:solidFill>
          <a:ln w="12700">
            <a:solidFill>
              <a:srgbClr val="2440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57616" y="21305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CONSISTENTLY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57616" y="2532888"/>
            <a:ext cx="3246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member credit unions with standardized risk tiers and underwriting decision support.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0"/>
          </a:xfrm>
          <a:prstGeom prst="line">
            <a:avLst/>
          </a:prstGeom>
          <a:noFill/>
          <a:ln w="12700">
            <a:solidFill>
              <a:srgbClr val="2440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demonstrates a practical, explainable and auditable path for transforming historical lending data into actionable credit-risk intelligence.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   </a:t>
            </a:r>
            <a:r>
              <a:rPr lang="en-US" sz="9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Kan, W. (2019). Lending Club loan data [Data set]. Kaggle.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TECHNOLOGIES   </a:t>
            </a:r>
            <a:r>
              <a:rPr lang="en-US" sz="950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• NumPy • Scikit-Learn • SQLite • Power BI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5468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1559</Words>
  <Application>Microsoft Office PowerPoint</Application>
  <PresentationFormat>Widescreen</PresentationFormat>
  <Paragraphs>368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Faisal Khan</cp:lastModifiedBy>
  <cp:revision>20</cp:revision>
  <dcterms:created xsi:type="dcterms:W3CDTF">2026-08-15T16:46:51Z</dcterms:created>
  <dcterms:modified xsi:type="dcterms:W3CDTF">2026-10-07T01:57:46Z</dcterms:modified>
</cp:coreProperties>
</file>